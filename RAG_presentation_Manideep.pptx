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9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10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6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0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9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5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6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7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0926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8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1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6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74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2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3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AI-Powered Customer Service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390" y="5027864"/>
            <a:ext cx="7315200" cy="685800"/>
          </a:xfrm>
        </p:spPr>
        <p:txBody>
          <a:bodyPr>
            <a:normAutofit/>
          </a:bodyPr>
          <a:lstStyle/>
          <a:p>
            <a:r>
              <a:rPr lang="en-US" dirty="0"/>
              <a:t>By Manideep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Business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 sz="2200"/>
            </a:pPr>
            <a:r>
              <a:rPr lang="en-US" dirty="0"/>
              <a:t>Every day, customers ask repetitive questions.</a:t>
            </a:r>
          </a:p>
          <a:p>
            <a:pPr lvl="1">
              <a:defRPr sz="2000"/>
            </a:pPr>
            <a:r>
              <a:rPr lang="en-US" dirty="0"/>
              <a:t>Examples:</a:t>
            </a:r>
          </a:p>
          <a:p>
            <a:pPr lvl="1">
              <a:defRPr sz="2000"/>
            </a:pPr>
            <a:r>
              <a:rPr lang="en-US" dirty="0"/>
              <a:t>• What is included in warranty?</a:t>
            </a:r>
          </a:p>
          <a:p>
            <a:pPr lvl="1">
              <a:defRPr sz="2000"/>
            </a:pPr>
            <a:r>
              <a:rPr lang="en-US" dirty="0"/>
              <a:t>• When should I service my car?</a:t>
            </a:r>
          </a:p>
          <a:p>
            <a:pPr lvl="1">
              <a:defRPr sz="2000"/>
            </a:pPr>
            <a:r>
              <a:rPr lang="en-US" dirty="0"/>
              <a:t>• How does ordering work?</a:t>
            </a:r>
          </a:p>
          <a:p>
            <a:pPr lvl="1">
              <a:defRPr sz="2000"/>
            </a:pPr>
            <a:endParaRPr lang="en-US" dirty="0"/>
          </a:p>
          <a:p>
            <a:pPr lvl="1">
              <a:defRPr sz="2000"/>
            </a:pPr>
            <a:r>
              <a:rPr lang="en-US" dirty="0"/>
              <a:t>The information already exists in internal documents,</a:t>
            </a:r>
          </a:p>
          <a:p>
            <a:pPr lvl="1">
              <a:defRPr sz="2000"/>
            </a:pPr>
            <a:r>
              <a:rPr lang="en-US" dirty="0"/>
              <a:t>but it is difficult to search quickly.</a:t>
            </a:r>
          </a:p>
          <a:p>
            <a:pPr marL="457200" lvl="1" indent="0">
              <a:buNone/>
              <a:defRPr sz="2000"/>
            </a:pPr>
            <a:endParaRPr lang="en-US" dirty="0"/>
          </a:p>
          <a:p>
            <a:pPr marL="0" indent="0">
              <a:buNone/>
              <a:defRPr sz="2200"/>
            </a:pPr>
            <a:r>
              <a:rPr lang="en-US" dirty="0"/>
              <a:t>Support teams must manually search documents.</a:t>
            </a:r>
          </a:p>
          <a:p>
            <a:pPr lvl="1">
              <a:defRPr sz="2000"/>
            </a:pPr>
            <a:r>
              <a:rPr lang="en-US" dirty="0"/>
              <a:t>This slows response time.</a:t>
            </a:r>
          </a:p>
          <a:p>
            <a:pPr lvl="1">
              <a:defRPr sz="2000"/>
            </a:pPr>
            <a:r>
              <a:rPr lang="en-US" dirty="0"/>
              <a:t>Customers may receive inconsistent answers.</a:t>
            </a:r>
          </a:p>
          <a:p>
            <a:pPr lvl="1">
              <a:defRPr sz="2000"/>
            </a:pPr>
            <a:r>
              <a:rPr lang="en-US" dirty="0"/>
              <a:t>It increases operational cost.</a:t>
            </a:r>
          </a:p>
          <a:p>
            <a:pPr lvl="1">
              <a:defRPr sz="2000"/>
            </a:pPr>
            <a:endParaRPr lang="en-US" dirty="0"/>
          </a:p>
          <a:p>
            <a:pPr lvl="1">
              <a:defRPr sz="2000"/>
            </a:pPr>
            <a:r>
              <a:rPr lang="en-US" dirty="0"/>
              <a:t>We need a smarter way to access company knowledge.</a:t>
            </a:r>
          </a:p>
          <a:p>
            <a:pPr lvl="1"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Build a local AI chatbot using Retrieval-Augmented Generation (RAG).</a:t>
            </a:r>
          </a:p>
          <a:p>
            <a:pPr lvl="1">
              <a:defRPr sz="2000"/>
            </a:pPr>
            <a:endParaRPr dirty="0"/>
          </a:p>
          <a:p>
            <a:pPr marL="457200" lvl="1" indent="0">
              <a:buNone/>
              <a:defRPr sz="2000"/>
            </a:pPr>
            <a:r>
              <a:rPr dirty="0"/>
              <a:t>The chatbot:</a:t>
            </a:r>
          </a:p>
          <a:p>
            <a:pPr marL="457200" lvl="1" indent="0">
              <a:buNone/>
              <a:defRPr sz="2000"/>
            </a:pPr>
            <a:r>
              <a:rPr dirty="0"/>
              <a:t>• Searches company documents</a:t>
            </a:r>
          </a:p>
          <a:p>
            <a:pPr marL="457200" lvl="1" indent="0">
              <a:buNone/>
              <a:defRPr sz="2000"/>
            </a:pPr>
            <a:r>
              <a:rPr dirty="0"/>
              <a:t>• Retrieves relevant information</a:t>
            </a:r>
          </a:p>
          <a:p>
            <a:pPr marL="457200" lvl="1" indent="0">
              <a:buNone/>
              <a:defRPr sz="2000"/>
            </a:pPr>
            <a:r>
              <a:rPr dirty="0"/>
              <a:t>• Generates grounded answers</a:t>
            </a:r>
          </a:p>
          <a:p>
            <a:pPr marL="457200" lvl="1" indent="0">
              <a:buNone/>
              <a:defRPr sz="2000"/>
            </a:pPr>
            <a:r>
              <a:rPr dirty="0"/>
              <a:t>• Shows document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Why Use RAG Instead of Just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 pure LLM may hallucinate (make up information).</a:t>
            </a:r>
          </a:p>
          <a:p>
            <a:pPr lvl="1">
              <a:defRPr sz="2000"/>
            </a:pPr>
            <a:r>
              <a:rPr dirty="0"/>
              <a:t>Fine-tuning models is expensive and hard to maintain.</a:t>
            </a:r>
          </a:p>
          <a:p>
            <a:pPr lvl="1">
              <a:defRPr sz="2000"/>
            </a:pPr>
            <a:endParaRPr dirty="0"/>
          </a:p>
          <a:p>
            <a:pPr marL="457200" lvl="1" indent="0">
              <a:buNone/>
              <a:defRPr sz="2000"/>
            </a:pPr>
            <a:r>
              <a:rPr dirty="0"/>
              <a:t>RAG solves this by:</a:t>
            </a:r>
          </a:p>
          <a:p>
            <a:pPr marL="457200" lvl="1" indent="0">
              <a:buNone/>
              <a:defRPr sz="2000"/>
            </a:pPr>
            <a:r>
              <a:rPr dirty="0"/>
              <a:t>• Searching real documents first</a:t>
            </a:r>
          </a:p>
          <a:p>
            <a:pPr marL="457200" lvl="1" indent="0">
              <a:buNone/>
              <a:defRPr sz="2000"/>
            </a:pPr>
            <a:r>
              <a:rPr dirty="0"/>
              <a:t>• Forcing the model to answer from context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958" y="274638"/>
            <a:ext cx="7940842" cy="1143000"/>
          </a:xfrm>
        </p:spPr>
        <p:txBody>
          <a:bodyPr>
            <a:normAutofit/>
          </a:bodyPr>
          <a:lstStyle/>
          <a:p>
            <a:r>
              <a:rPr dirty="0"/>
              <a:t>How The System Works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7C395-61B3-606B-BDC3-57D30D38C96A}"/>
              </a:ext>
            </a:extLst>
          </p:cNvPr>
          <p:cNvSpPr txBox="1"/>
          <p:nvPr/>
        </p:nvSpPr>
        <p:spPr>
          <a:xfrm>
            <a:off x="637674" y="1792705"/>
            <a:ext cx="75317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User asks a question.</a:t>
            </a:r>
          </a:p>
          <a:p>
            <a:r>
              <a:rPr lang="en-US" dirty="0"/>
              <a:t>2. Question is converted into embeddings.</a:t>
            </a:r>
          </a:p>
          <a:p>
            <a:r>
              <a:rPr lang="en-US" dirty="0"/>
              <a:t>3. Vector database searches for similar document chunks.</a:t>
            </a:r>
          </a:p>
          <a:p>
            <a:r>
              <a:rPr lang="en-US" dirty="0"/>
              <a:t>4. Top-K most relevant chunks are selected.</a:t>
            </a:r>
          </a:p>
          <a:p>
            <a:r>
              <a:rPr lang="en-US" dirty="0"/>
              <a:t>5. Retrieved context is added into the prompt.</a:t>
            </a:r>
          </a:p>
          <a:p>
            <a:r>
              <a:rPr lang="en-US" dirty="0"/>
              <a:t>6. LLM generates an answer based on the context.</a:t>
            </a:r>
          </a:p>
          <a:p>
            <a:r>
              <a:rPr lang="en-US" dirty="0"/>
              <a:t>7. Sources are displayed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US" dirty="0"/>
              <a:t>         </a:t>
            </a:r>
          </a:p>
          <a:p>
            <a:pPr lvl="1">
              <a:defRPr sz="2000"/>
            </a:pPr>
            <a:r>
              <a:rPr lang="en-US" dirty="0"/>
              <a:t>LLM (Large Language Model)</a:t>
            </a:r>
            <a:r>
              <a:rPr dirty="0"/>
              <a:t>: </a:t>
            </a:r>
            <a:r>
              <a:rPr lang="en-US" dirty="0"/>
              <a:t>Generates answers.</a:t>
            </a:r>
          </a:p>
          <a:p>
            <a:pPr lvl="1">
              <a:defRPr sz="2000"/>
            </a:pPr>
            <a:r>
              <a:rPr lang="en-US" dirty="0"/>
              <a:t>Embedding Model: Converts text into numerical meaning.</a:t>
            </a:r>
            <a:endParaRPr dirty="0"/>
          </a:p>
          <a:p>
            <a:pPr lvl="1">
              <a:defRPr sz="2000"/>
            </a:pPr>
            <a:r>
              <a:rPr dirty="0"/>
              <a:t>Vector Database (ChromaDB): Stores document embeddings.</a:t>
            </a:r>
          </a:p>
          <a:p>
            <a:pPr lvl="1">
              <a:defRPr sz="2000"/>
            </a:pPr>
            <a:r>
              <a:rPr dirty="0"/>
              <a:t>Top-K Retrieval: Selects most relevant document chunks.</a:t>
            </a:r>
          </a:p>
          <a:p>
            <a:pPr lvl="1">
              <a:defRPr sz="2000"/>
            </a:pPr>
            <a:r>
              <a:rPr dirty="0"/>
              <a:t>Prompt Injection: Adds context before asking the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Ollama: Allows local execution (no API cost).</a:t>
            </a:r>
          </a:p>
          <a:p>
            <a:pPr lvl="1">
              <a:defRPr sz="2000"/>
            </a:pPr>
            <a:r>
              <a:rPr dirty="0"/>
              <a:t>llama3.2:3b: Lightweight model for CPU environments.</a:t>
            </a:r>
          </a:p>
          <a:p>
            <a:pPr lvl="1">
              <a:defRPr sz="2000"/>
            </a:pPr>
            <a:r>
              <a:rPr dirty="0"/>
              <a:t>nomic-embed-text: Efficient embedding model.</a:t>
            </a:r>
          </a:p>
          <a:p>
            <a:pPr lvl="1">
              <a:defRPr sz="2000"/>
            </a:pPr>
            <a:r>
              <a:rPr dirty="0"/>
              <a:t>ChromaDB: Simple and persistent vector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Why Chunk Size 500 with Overlap 100?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If chunks are too small → lose context.</a:t>
            </a:r>
          </a:p>
          <a:p>
            <a:pPr lvl="1">
              <a:defRPr sz="2000"/>
            </a:pPr>
            <a:r>
              <a:t>If chunks are too large → retrieval becomes inaccurate.</a:t>
            </a:r>
          </a:p>
          <a:p>
            <a:pPr lvl="1">
              <a:defRPr sz="2000"/>
            </a:pPr>
            <a:endParaRPr/>
          </a:p>
          <a:p>
            <a:pPr lvl="1">
              <a:defRPr sz="2000"/>
            </a:pPr>
            <a:r>
              <a:t>500 characters balances context and precision.</a:t>
            </a:r>
          </a:p>
          <a:p>
            <a:pPr lvl="1">
              <a:defRPr sz="2000"/>
            </a:pPr>
            <a:r>
              <a:t>100 overlap prevents sentence cutting.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When a user asks:</a:t>
            </a:r>
          </a:p>
          <a:p>
            <a:pPr lvl="1">
              <a:defRPr sz="2000"/>
            </a:pPr>
            <a:r>
              <a:rPr dirty="0"/>
              <a:t>"What is included in vehicle warranty?"</a:t>
            </a:r>
          </a:p>
          <a:p>
            <a:pPr lvl="1">
              <a:defRPr sz="2000"/>
            </a:pPr>
            <a:endParaRPr dirty="0"/>
          </a:p>
          <a:p>
            <a:pPr marL="457200" lvl="1" indent="0">
              <a:buNone/>
              <a:defRPr sz="2000"/>
            </a:pPr>
            <a:r>
              <a:rPr dirty="0"/>
              <a:t>The system:</a:t>
            </a:r>
          </a:p>
          <a:p>
            <a:pPr lvl="1">
              <a:defRPr sz="2000"/>
            </a:pPr>
            <a:r>
              <a:rPr dirty="0"/>
              <a:t>1. Finds related document chunks</a:t>
            </a:r>
          </a:p>
          <a:p>
            <a:pPr lvl="1">
              <a:defRPr sz="2000"/>
            </a:pPr>
            <a:r>
              <a:rPr dirty="0"/>
              <a:t>2. Injects them into prompt</a:t>
            </a:r>
          </a:p>
          <a:p>
            <a:pPr lvl="1">
              <a:defRPr sz="2000"/>
            </a:pPr>
            <a:r>
              <a:rPr dirty="0"/>
              <a:t>3. Generates answer</a:t>
            </a:r>
          </a:p>
          <a:p>
            <a:pPr lvl="1">
              <a:defRPr sz="2000"/>
            </a:pPr>
            <a:r>
              <a:rPr dirty="0"/>
              <a:t>4. Displays source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The small model limits advanced reasoning.</a:t>
            </a:r>
          </a:p>
          <a:p>
            <a:pPr lvl="1">
              <a:defRPr sz="2000"/>
            </a:pPr>
            <a:r>
              <a:rPr dirty="0"/>
              <a:t>Only similarity search is used (no hybrid search).</a:t>
            </a:r>
          </a:p>
          <a:p>
            <a:pPr lvl="1">
              <a:defRPr sz="2000"/>
            </a:pPr>
            <a:r>
              <a:rPr dirty="0"/>
              <a:t>No automated evaluation metrics yet.</a:t>
            </a:r>
          </a:p>
          <a:p>
            <a:pPr lvl="1">
              <a:defRPr sz="2000"/>
            </a:pPr>
            <a:r>
              <a:rPr dirty="0"/>
              <a:t>This is a prototype, not production-ready.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Scaling 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Use larger models (8B–13B parameters).</a:t>
            </a:r>
          </a:p>
          <a:p>
            <a:pPr lvl="1">
              <a:defRPr sz="2000"/>
            </a:pPr>
            <a:r>
              <a:rPr dirty="0"/>
              <a:t>Deploy in cloud environment.</a:t>
            </a:r>
          </a:p>
          <a:p>
            <a:pPr lvl="1">
              <a:defRPr sz="2000"/>
            </a:pPr>
            <a:r>
              <a:rPr dirty="0"/>
              <a:t>Add hybrid retrieval (semantic + keyword).</a:t>
            </a:r>
          </a:p>
          <a:p>
            <a:pPr lvl="1">
              <a:defRPr sz="2000"/>
            </a:pPr>
            <a:r>
              <a:rPr dirty="0"/>
              <a:t>Add monitoring and evaluation metrics.</a:t>
            </a:r>
          </a:p>
          <a:p>
            <a:pPr lvl="1">
              <a:defRPr sz="2000"/>
            </a:pPr>
            <a:r>
              <a:rPr dirty="0"/>
              <a:t>Integrate with CRM and support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Faster customer response time.</a:t>
            </a:r>
          </a:p>
          <a:p>
            <a:pPr lvl="1">
              <a:defRPr sz="2000"/>
            </a:pPr>
            <a:r>
              <a:rPr dirty="0"/>
              <a:t>Reduced workload for support teams.</a:t>
            </a:r>
          </a:p>
          <a:p>
            <a:pPr lvl="1">
              <a:defRPr sz="2000"/>
            </a:pPr>
            <a:r>
              <a:rPr dirty="0"/>
              <a:t>Consistent answers across channels.</a:t>
            </a:r>
          </a:p>
          <a:p>
            <a:pPr lvl="1">
              <a:defRPr sz="2000"/>
            </a:pPr>
            <a:r>
              <a:rPr dirty="0"/>
              <a:t>Scalable knowledge access.</a:t>
            </a:r>
          </a:p>
          <a:p>
            <a:pPr lvl="1">
              <a:defRPr sz="2000"/>
            </a:pPr>
            <a:r>
              <a:rPr dirty="0"/>
              <a:t>Foundation for AI-driven digital transformation.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Thank you for your time.</a:t>
            </a:r>
          </a:p>
          <a:p>
            <a:pPr marL="457200" lvl="1" indent="0">
              <a:buNone/>
              <a:defRPr sz="2000"/>
            </a:pPr>
            <a:r>
              <a:rPr dirty="0"/>
              <a:t>I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47</TotalTime>
  <Words>512</Words>
  <Application>Microsoft Office PowerPoint</Application>
  <PresentationFormat>On-screen Show (4:3)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AI-Powered Customer Service Chatbot</vt:lpstr>
      <vt:lpstr>The Business Problem</vt:lpstr>
      <vt:lpstr>The Proposed Solution</vt:lpstr>
      <vt:lpstr>Why Use RAG Instead of Just an LLM?</vt:lpstr>
      <vt:lpstr>How The System Works</vt:lpstr>
      <vt:lpstr>Key Components</vt:lpstr>
      <vt:lpstr>PowerPoint Presentation</vt:lpstr>
      <vt:lpstr>Why Chunk Size 500 with Overlap 100?</vt:lpstr>
      <vt:lpstr>Demonstration</vt:lpstr>
      <vt:lpstr>Current Limitations</vt:lpstr>
      <vt:lpstr>Scaling to Production</vt:lpstr>
      <vt:lpstr>Business Impact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Paramagouni, Manideep (Stud. E - AI)</cp:lastModifiedBy>
  <cp:revision>2</cp:revision>
  <dcterms:created xsi:type="dcterms:W3CDTF">2013-01-27T09:14:16Z</dcterms:created>
  <dcterms:modified xsi:type="dcterms:W3CDTF">2026-03-03T12:27:40Z</dcterms:modified>
  <cp:category/>
</cp:coreProperties>
</file>